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1" r:id="rId2"/>
    <p:sldId id="2562" r:id="rId3"/>
    <p:sldId id="2563" r:id="rId4"/>
    <p:sldId id="2564" r:id="rId5"/>
    <p:sldId id="256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ic Telecom HLSO: Customer Order Provisioning" id="{15D3A33D-F08F-4043-B16B-D452A14CF338}">
          <p14:sldIdLst>
            <p14:sldId id="2561"/>
          </p14:sldIdLst>
        </p14:section>
        <p14:section name="High-Level Solution Overview for Telecom Order Provisioning" id="{E72A37FC-0F02-4E06-A46D-8E5FD3D51501}">
          <p14:sldIdLst>
            <p14:sldId id="2562"/>
            <p14:sldId id="2563"/>
            <p14:sldId id="2564"/>
            <p14:sldId id="25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BC619F-B7F9-417A-87A2-4EDC030907FF}" type="datetimeFigureOut">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E8DD04-369B-4E2A-B7FC-E6BF506DA403}" type="slidenum">
              <a:t>‹#›</a:t>
            </a:fld>
            <a:endParaRPr lang="en-US"/>
          </a:p>
        </p:txBody>
      </p:sp>
    </p:spTree>
    <p:extLst>
      <p:ext uri="{BB962C8B-B14F-4D97-AF65-F5344CB8AC3E}">
        <p14:creationId xmlns:p14="http://schemas.microsoft.com/office/powerpoint/2010/main" val="361603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E1643867-6C02-478B-8116-64B195DC7FD0}" type="slidenum">
              <a:t>1</a:t>
            </a:fld>
            <a:endParaRPr lang="en-US"/>
          </a:p>
        </p:txBody>
      </p:sp>
    </p:spTree>
    <p:extLst>
      <p:ext uri="{BB962C8B-B14F-4D97-AF65-F5344CB8AC3E}">
        <p14:creationId xmlns:p14="http://schemas.microsoft.com/office/powerpoint/2010/main" val="1190026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Objective and Scope of the HLSO, High-Level Functional Flow Across Telecom Systems, Assumptions, Dependencies, Risks, and Success Criteria 
 Image source: Microsoft 365 content library</a:t>
            </a:r>
          </a:p>
        </p:txBody>
      </p:sp>
      <p:sp>
        <p:nvSpPr>
          <p:cNvPr id="4" name="Slide Number Placeholder 3"/>
          <p:cNvSpPr>
            <a:spLocks noGrp="1"/>
          </p:cNvSpPr>
          <p:nvPr>
            <p:ph type="sldNum" sz="quarter" idx="5"/>
          </p:nvPr>
        </p:nvSpPr>
        <p:spPr/>
        <p:txBody>
          <a:bodyPr/>
          <a:lstStyle/>
          <a:p>
            <a:fld id="{E1643867-6C02-478B-8116-64B195DC7FD0}" type="slidenum">
              <a:t>2</a:t>
            </a:fld>
            <a:endParaRPr lang="en-US"/>
          </a:p>
        </p:txBody>
      </p:sp>
    </p:spTree>
    <p:extLst>
      <p:ext uri="{BB962C8B-B14F-4D97-AF65-F5344CB8AC3E}">
        <p14:creationId xmlns:p14="http://schemas.microsoft.com/office/powerpoint/2010/main" val="2942542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High-Level Solution Overview (HLSO) is designed to describe a generic, end-to-end telecom customer order provisioning capability, focusing on how customer service orders flow across enterprise systems from initiation to activation. The primary business objective of this solution is to enable a smooth, automated, and reliable order lifecycle that minimizes manual intervention while ensuring accuracy and compliance with service-level agreements. In a typical telecom environment, customer experience is directly impacted by how efficiently orders are captured, validated, processed, and activated, making this solution critical for both operational efficiency and customer satisfaction.
The scope of this HLSO includes customer order creation through a centralized CRM system, initial validations such as customer eligibility and service feasibility, orchestration through an Order Management System (OMS), and downstream provisioning through inventory and activation platforms. By defining these interactions at a high level, the document provides a shared understanding for business stakeholders, solution architects, QA teams, and integration teams. This alignment helps reduce ambiguity early in the delivery lifecycle and sets the foundation for more detailed High-Level Solution (HLS) and Low-Level Design (LLD) documents.
From a business perspective, the solution aims to reduce order fallout, shorten order-to-activate timelines, and improve data consistency across systems. For example, automated validation checks at the CRM layer can prevent invalid orders from reaching downstream systems, while centralized orchestration through OMS ensures that complex dependencies, such as inventory allocation and provisioning sequencing, are handled systematically. The HLSO also clearly defines what is out of scope, such as network design changes and billing tariff configuration, to avoid scope creep and unrealistic expectations.
Overall, this HLSO represents a sanitized, vendor-neutral view of telecom order provisioning that is highly relevant to CRM and OSS-BSS environments. It reflects real-world enterprise practices while remaining generic enough to be used for learning, AI-based analysis, and solution comparison exercises.</a:t>
            </a:r>
          </a:p>
        </p:txBody>
      </p:sp>
      <p:sp>
        <p:nvSpPr>
          <p:cNvPr id="4" name="Slide Number Placeholder 3"/>
          <p:cNvSpPr>
            <a:spLocks noGrp="1"/>
          </p:cNvSpPr>
          <p:nvPr>
            <p:ph type="sldNum" sz="quarter" idx="5"/>
          </p:nvPr>
        </p:nvSpPr>
        <p:spPr/>
        <p:txBody>
          <a:bodyPr/>
          <a:lstStyle/>
          <a:p>
            <a:fld id="{E1643867-6C02-478B-8116-64B195DC7FD0}" type="slidenum">
              <a:t>3</a:t>
            </a:fld>
            <a:endParaRPr lang="en-US"/>
          </a:p>
        </p:txBody>
      </p:sp>
    </p:spTree>
    <p:extLst>
      <p:ext uri="{BB962C8B-B14F-4D97-AF65-F5344CB8AC3E}">
        <p14:creationId xmlns:p14="http://schemas.microsoft.com/office/powerpoint/2010/main" val="3930995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high-level functional flow described in this HLSO outlines how a customer service order progresses through multiple enterprise systems in a typical telecom architecture. The flow begins when a customer places a service order through a CRM channel, such as a customer care interface or self-service portal. At this stage, the CRM system plays a critical role as the single point of interaction with the customer and the primary source of order data. It performs initial validations, including customer eligibility, service availability, and basic data completeness checks, to ensure that only valid orders proceed further.
Once validated, the order is transmitted to the Order Management System (OMS), which is responsible for orchestrating the overall fulfillment process. OMS decomposes the order into logical tasks, manages dependencies, and coordinates interactions with downstream systems. One key interaction at this stage is with the inventory system, where the availability of required resources—such as numbers, ports, or logical services—is verified. This step is essential to prevent activation failures later in the process.
After successful inventory validation, OMS triggers provisioning requests to the appropriate provisioning or activation systems. These systems execute the technical steps required to enable the service in the network or service platforms. Upon completion, activation status and responses are sent back to OMS, which then updates the CRM with the final order status. This near real-time status propagation ensures transparency for customer service agents and enables timely customer communication.
The flow emphasizes consistency, traceability, and error handling. Failures at any stage should be logged, retriable where applicable, and clearly reflected in order status updates. This high-level view helps stakeholders understand system responsibilities and integration touchpoints without going into technical implementation details, making it ideal for early-stage solution discussions and AI-driven analysis. 
 Image source: Microsoft 365 content library</a:t>
            </a:r>
          </a:p>
        </p:txBody>
      </p:sp>
      <p:sp>
        <p:nvSpPr>
          <p:cNvPr id="4" name="Slide Number Placeholder 3"/>
          <p:cNvSpPr>
            <a:spLocks noGrp="1"/>
          </p:cNvSpPr>
          <p:nvPr>
            <p:ph type="sldNum" sz="quarter" idx="5"/>
          </p:nvPr>
        </p:nvSpPr>
        <p:spPr/>
        <p:txBody>
          <a:bodyPr/>
          <a:lstStyle/>
          <a:p>
            <a:fld id="{E1643867-6C02-478B-8116-64B195DC7FD0}" type="slidenum">
              <a:t>4</a:t>
            </a:fld>
            <a:endParaRPr lang="en-US"/>
          </a:p>
        </p:txBody>
      </p:sp>
    </p:spTree>
    <p:extLst>
      <p:ext uri="{BB962C8B-B14F-4D97-AF65-F5344CB8AC3E}">
        <p14:creationId xmlns:p14="http://schemas.microsoft.com/office/powerpoint/2010/main" val="3566261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HLSO is based on a set of clearly defined assumptions, dependencies, and risk considerations that are typical of large-scale telecom implementations. One core assumption is that the CRM system acts as the single source of truth for customer and order data, ensuring consistency across the ecosystem. It is also assumed that all downstream systems, including OMS, inventory, and provisioning platforms, expose stable and reliable APIs to support seamless integration. Additionally, the availability of required network or service resources at the time of provisioning is assumed to avoid unnecessary delays.
The solution has several critical dependencies that must be addressed for successful execution. These include stable connectivity and data synchronization between CRM and OMS, high availability of the inventory system for real-time checks, and acceptable response times from provisioning systems. Any degradation in these dependencies can directly impact order completion timelines and customer experience.
From a risk perspective, common challenges include order fallout due to inventory mismatches, delays caused by downstream system outages, and data inconsistencies arising from partial failures. For example, a provisioning failure that is not correctly synchronized back to CRM can lead to incorrect order status visibility, increasing operational effort and customer dissatisfaction. Identifying these risks at the HLSO stage allows teams to plan mitigation strategies, such as retry mechanisms, monitoring, and reconciliation processes, during detailed design.
Success criteria for this solution are defined in business and operational terms. An order should be completed end-to-end without manual intervention, service activation should occur within agreed SLAs, and the final order status should be accurately reflected in CRM. Meeting these criteria indicates that the high-level solution objectives have been achieved and that the foundation is strong for further detailed solution design and implementation. 
 Image source: Microsoft 365 content library</a:t>
            </a:r>
          </a:p>
        </p:txBody>
      </p:sp>
      <p:sp>
        <p:nvSpPr>
          <p:cNvPr id="4" name="Slide Number Placeholder 3"/>
          <p:cNvSpPr>
            <a:spLocks noGrp="1"/>
          </p:cNvSpPr>
          <p:nvPr>
            <p:ph type="sldNum" sz="quarter" idx="5"/>
          </p:nvPr>
        </p:nvSpPr>
        <p:spPr/>
        <p:txBody>
          <a:bodyPr/>
          <a:lstStyle/>
          <a:p>
            <a:fld id="{E1643867-6C02-478B-8116-64B195DC7FD0}" type="slidenum">
              <a:t>5</a:t>
            </a:fld>
            <a:endParaRPr lang="en-US"/>
          </a:p>
        </p:txBody>
      </p:sp>
    </p:spTree>
    <p:extLst>
      <p:ext uri="{BB962C8B-B14F-4D97-AF65-F5344CB8AC3E}">
        <p14:creationId xmlns:p14="http://schemas.microsoft.com/office/powerpoint/2010/main" val="3849412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
        <p:nvSpPr>
          <p:cNvPr id="8" name="TextBox 7">
            <a:extLst>
              <a:ext uri="{FF2B5EF4-FFF2-40B4-BE49-F238E27FC236}">
                <a16:creationId xmlns:a16="http://schemas.microsoft.com/office/drawing/2014/main" id="{D255368A-617F-0146-27DA-CF2B0432BDAE}"/>
              </a:ext>
            </a:extLst>
          </p:cNvPr>
          <p:cNvSpPr txBox="1"/>
          <p:nvPr userDrawn="1">
            <p:extLst>
              <p:ext uri="{1162E1C5-73C7-4A58-AE30-91384D911F3F}">
                <p184:classification xmlns:p184="http://schemas.microsoft.com/office/powerpoint/2018/4/main" val="ftr"/>
              </p:ext>
            </p:extLst>
          </p:nvPr>
        </p:nvSpPr>
        <p:spPr>
          <a:xfrm>
            <a:off x="63500" y="6642100"/>
            <a:ext cx="3714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Public</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jpeg"/><Relationship Id="rId3" Type="http://schemas.openxmlformats.org/officeDocument/2006/relationships/image" Target="../media/image1.png"/><Relationship Id="rId7" Type="http://schemas.openxmlformats.org/officeDocument/2006/relationships/image" Target="../media/image9.jpeg"/><Relationship Id="rId12"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2.sv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0A67FD-FA2D-41F5-AD89-41DD5132DEA7}"/>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Imaginary cadastral map of territory with buildings, roads and land parcel - concept illustration with copy space on colored background.">
            <a:extLst>
              <a:ext uri="{FF2B5EF4-FFF2-40B4-BE49-F238E27FC236}">
                <a16:creationId xmlns:a16="http://schemas.microsoft.com/office/drawing/2014/main" id="{0CBEDD30-1FD8-49B8-9068-B554FC7D91B2}"/>
              </a:ext>
            </a:extLst>
          </p:cNvPr>
          <p:cNvPicPr>
            <a:picLocks noGrp="1" noChangeAspect="1"/>
          </p:cNvPicPr>
          <p:nvPr>
            <p:ph sz="half" idx="2"/>
          </p:nvPr>
        </p:nvPicPr>
        <p:blipFill>
          <a:blip r:embed="rId5"/>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60A2DD73-4CDD-4D49-96CF-197AC5CDCCC5}"/>
              </a:ext>
            </a:extLst>
          </p:cNvPr>
          <p:cNvSpPr txBox="1"/>
          <p:nvPr/>
        </p:nvSpPr>
        <p:spPr>
          <a:xfrm>
            <a:off x="771525" y="801588"/>
            <a:ext cx="4572000" cy="2879824"/>
          </a:xfrm>
          <a:prstGeom prst="rect">
            <a:avLst/>
          </a:prstGeom>
          <a:noFill/>
        </p:spPr>
        <p:txBody>
          <a:bodyPr wrap="square" rtlCol="0">
            <a:normAutofit/>
          </a:bodyPr>
          <a:lstStyle/>
          <a:p>
            <a:pPr marL="0" algn="l">
              <a:buNone/>
            </a:pPr>
            <a:r>
              <a:rPr sz="4200" b="1">
                <a:solidFill>
                  <a:srgbClr val="3B3232"/>
                </a:solidFill>
                <a:effectLst/>
                <a:latin typeface="Georgia" panose="02040502050405020303" pitchFamily="18" charset="0"/>
              </a:rPr>
              <a:t>Generic Telecom HLSO: Customer Order Provisioning </a:t>
            </a:r>
            <a:endParaRPr lang="en-US"/>
          </a:p>
        </p:txBody>
      </p:sp>
      <p:sp>
        <p:nvSpPr>
          <p:cNvPr id="8" name="TextBox 7">
            <a:extLst>
              <a:ext uri="{FF2B5EF4-FFF2-40B4-BE49-F238E27FC236}">
                <a16:creationId xmlns:a16="http://schemas.microsoft.com/office/drawing/2014/main" id="{3E923C9A-0825-4ADE-88DA-9A10D2B16423}"/>
              </a:ext>
            </a:extLst>
          </p:cNvPr>
          <p:cNvSpPr txBox="1"/>
          <p:nvPr/>
        </p:nvSpPr>
        <p:spPr>
          <a:xfrm>
            <a:off x="771525" y="5608587"/>
            <a:ext cx="4572000" cy="714375"/>
          </a:xfrm>
          <a:prstGeom prst="rect">
            <a:avLst/>
          </a:prstGeom>
          <a:noFill/>
        </p:spPr>
        <p:txBody>
          <a:bodyPr wrap="square" rtlCol="0">
            <a:normAutofit/>
          </a:bodyPr>
          <a:lstStyle/>
          <a:p>
            <a:pPr marL="0" algn="l">
              <a:buNone/>
            </a:pPr>
            <a:r>
              <a:rPr sz="2250" b="1">
                <a:solidFill>
                  <a:srgbClr val="3B3232"/>
                </a:solidFill>
                <a:effectLst/>
                <a:latin typeface="Arial" panose="020B0604020202020204" pitchFamily="34" charset="0"/>
              </a:rPr>
              <a:t>End-to-end provisioning operating model </a:t>
            </a:r>
            <a:endParaRPr lang="en-US"/>
          </a:p>
        </p:txBody>
      </p:sp>
    </p:spTree>
    <p:extLst>
      <p:ext uri="{BB962C8B-B14F-4D97-AF65-F5344CB8AC3E}">
        <p14:creationId xmlns:p14="http://schemas.microsoft.com/office/powerpoint/2010/main" val="4122101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8DB759-782A-4059-BB88-8C662A9EB0FB}"/>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Three - dimensional synthetic works, science and technology space">
            <a:extLst>
              <a:ext uri="{FF2B5EF4-FFF2-40B4-BE49-F238E27FC236}">
                <a16:creationId xmlns:a16="http://schemas.microsoft.com/office/drawing/2014/main" id="{B4E9528A-0625-4A9D-8219-2B493DBCED28}"/>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609600" y="342900"/>
            <a:ext cx="10972800" cy="6172200"/>
          </a:xfrm>
          <a:prstGeom prst="rect">
            <a:avLst/>
          </a:prstGeom>
        </p:spPr>
      </p:pic>
    </p:spTree>
    <p:extLst>
      <p:ext uri="{BB962C8B-B14F-4D97-AF65-F5344CB8AC3E}">
        <p14:creationId xmlns:p14="http://schemas.microsoft.com/office/powerpoint/2010/main" val="94583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B3B506-EE75-4399-90B2-1FC1C7C72C6F}"/>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214668F1-4A12-A31F-E5B7-EA6364FC9664}"/>
              </a:ext>
            </a:extLst>
          </p:cNvPr>
          <p:cNvSpPr>
            <a:spLocks noGrp="1"/>
          </p:cNvSpPr>
          <p:nvPr>
            <p:ph sz="half" idx="2"/>
          </p:nvPr>
        </p:nvSpPr>
        <p:spPr>
          <a:xfrm>
            <a:off x="771525" y="771525"/>
            <a:ext cx="10648950" cy="1016198"/>
          </a:xfrm>
        </p:spPr>
        <p:txBody>
          <a:bodyPr/>
          <a:lstStyle/>
          <a:p>
            <a:pPr marL="0" marR="0" algn="l">
              <a:buNone/>
            </a:pPr>
            <a:r>
              <a:rPr sz="4050" b="1">
                <a:solidFill>
                  <a:srgbClr val="3B3232"/>
                </a:solidFill>
                <a:effectLst/>
                <a:latin typeface="Sabon Next"/>
              </a:rPr>
              <a:t>Objective &amp; Scope </a:t>
            </a:r>
            <a:endParaRPr>
              <a:effectLst/>
            </a:endParaRPr>
          </a:p>
          <a:p>
            <a:pPr marL="0" marR="0" algn="l">
              <a:spcBef>
                <a:spcPts val="1050"/>
              </a:spcBef>
              <a:buNone/>
            </a:pPr>
            <a:r>
              <a:rPr sz="2250" b="1">
                <a:solidFill>
                  <a:srgbClr val="3B3232"/>
                </a:solidFill>
                <a:effectLst/>
                <a:latin typeface="Bierstadt" panose="020B0004020202020204" pitchFamily="34" charset="0"/>
              </a:rPr>
              <a:t>Telecom order provisioning overview </a:t>
            </a:r>
            <a:endParaRPr lang="en-US"/>
          </a:p>
        </p:txBody>
      </p:sp>
      <p:sp>
        <p:nvSpPr>
          <p:cNvPr id="6" name="TextBox 5">
            <a:extLst>
              <a:ext uri="{FF2B5EF4-FFF2-40B4-BE49-F238E27FC236}">
                <a16:creationId xmlns:a16="http://schemas.microsoft.com/office/drawing/2014/main" id="{0EE4B06F-5599-4410-820D-FF9098E468B8}"/>
              </a:ext>
            </a:extLst>
          </p:cNvPr>
          <p:cNvSpPr txBox="1"/>
          <p:nvPr/>
        </p:nvSpPr>
        <p:spPr>
          <a:xfrm>
            <a:off x="771525" y="1819275"/>
            <a:ext cx="10648950" cy="4916685"/>
          </a:xfrm>
          <a:prstGeom prst="rect">
            <a:avLst/>
          </a:prstGeom>
          <a:noFill/>
        </p:spPr>
        <p:txBody>
          <a:bodyPr wrap="square" rtlCol="0">
            <a:normAutofit lnSpcReduction="10000"/>
          </a:bodyPr>
          <a:lstStyle/>
          <a:p>
            <a:pPr marL="0" marR="0" algn="l">
              <a:buNone/>
            </a:pPr>
            <a:r>
              <a:rPr sz="1500" b="0">
                <a:solidFill>
                  <a:srgbClr val="3B3232"/>
                </a:solidFill>
                <a:effectLst/>
                <a:latin typeface="Bierstadt" panose="020B0004020202020204" pitchFamily="34" charset="0"/>
              </a:rPr>
              <a:t>This High-Level Solution Overview (HLSO) describes a generic, end-to-end telecom customer order provisioning capability, tracing how service orders flow across enterprise systems from initiation to activation. The objective is a smooth, automated, reliable order lifecycle that minimizes manual intervention while maintaining accuracy and SLA compliance. </a:t>
            </a:r>
            <a:endParaRPr>
              <a:effectLst/>
            </a:endParaRPr>
          </a:p>
          <a:p>
            <a:pPr marL="0" marR="0" algn="l">
              <a:spcBef>
                <a:spcPts val="1650"/>
              </a:spcBef>
              <a:buNone/>
            </a:pPr>
            <a:r>
              <a:rPr sz="1650" b="1">
                <a:solidFill>
                  <a:srgbClr val="3B3232"/>
                </a:solidFill>
                <a:effectLst/>
                <a:latin typeface="Bierstadt" panose="020B0004020202020204" pitchFamily="34" charset="0"/>
              </a:rPr>
              <a:t>Scope </a:t>
            </a:r>
            <a:endParaRPr>
              <a:effectLst/>
            </a:endParaRPr>
          </a:p>
          <a:p>
            <a:pPr marL="0" marR="0" algn="l">
              <a:spcBef>
                <a:spcPts val="600"/>
              </a:spcBef>
              <a:buNone/>
            </a:pPr>
            <a:r>
              <a:rPr sz="1500" b="0">
                <a:solidFill>
                  <a:srgbClr val="3B3232"/>
                </a:solidFill>
                <a:effectLst/>
                <a:latin typeface="Bierstadt" panose="020B0004020202020204" pitchFamily="34" charset="0"/>
              </a:rPr>
              <a:t>The scope covers order creation in a centralized CRM, initial validations (customer eligibility and service feasibility), orchestration through an Order Management System (OMS), and downstream provisioning via inventory and activation platforms. It provides a shared, vendor-neutral understanding for business stakeholders, architects, QA, and integration teams—forming a baseline for later HLS and LLD detail. </a:t>
            </a:r>
            <a:endParaRPr>
              <a:effectLst/>
            </a:endParaRPr>
          </a:p>
          <a:p>
            <a:pPr marL="0" marR="0" algn="l">
              <a:spcBef>
                <a:spcPts val="1650"/>
              </a:spcBef>
              <a:buNone/>
            </a:pPr>
            <a:r>
              <a:rPr sz="1650" b="1">
                <a:solidFill>
                  <a:srgbClr val="3B3232"/>
                </a:solidFill>
                <a:effectLst/>
                <a:latin typeface="Bierstadt" panose="020B0004020202020204" pitchFamily="34" charset="0"/>
              </a:rPr>
              <a:t>Business outcomes &amp; boundaries </a:t>
            </a:r>
            <a:endParaRPr>
              <a:effectLst/>
            </a:endParaRPr>
          </a:p>
          <a:p>
            <a:pPr marL="0" marR="0" algn="l">
              <a:spcBef>
                <a:spcPts val="600"/>
              </a:spcBef>
              <a:buNone/>
            </a:pPr>
            <a:r>
              <a:rPr sz="1500" b="0">
                <a:solidFill>
                  <a:srgbClr val="3B3232"/>
                </a:solidFill>
                <a:effectLst/>
                <a:latin typeface="Bierstadt" panose="020B0004020202020204" pitchFamily="34" charset="0"/>
              </a:rPr>
              <a:t>The solution targets reduced order fallout, shorter order-to-activate timelines, and improved cross-system data consistency (e.g., CRM validations preventing invalid downstream processing; OMS sequencing handling dependencies like allocation and provisioning order). Out of scope: network design changes and billing tariff configuration, to prevent scope creep and misaligned expectations. </a:t>
            </a:r>
            <a:endParaRPr>
              <a:effectLst/>
            </a:endParaRPr>
          </a:p>
          <a:p>
            <a:pPr marL="0" marR="0" algn="l">
              <a:spcBef>
                <a:spcPts val="1650"/>
              </a:spcBef>
              <a:buNone/>
            </a:pPr>
            <a:r>
              <a:rPr sz="1500" b="0">
                <a:solidFill>
                  <a:srgbClr val="3B3232"/>
                </a:solidFill>
                <a:effectLst/>
                <a:latin typeface="Bierstadt" panose="020B0004020202020204" pitchFamily="34" charset="0"/>
              </a:rPr>
              <a:t>Overall, this HLSO reflects real enterprise CRM and OSS/BSS practices while remaining sanitized and generic for learning, AI-based analysis, and solution comparison. </a:t>
            </a:r>
            <a:endParaRPr lang="en-US"/>
          </a:p>
        </p:txBody>
      </p:sp>
    </p:spTree>
    <p:extLst>
      <p:ext uri="{BB962C8B-B14F-4D97-AF65-F5344CB8AC3E}">
        <p14:creationId xmlns:p14="http://schemas.microsoft.com/office/powerpoint/2010/main" val="2538714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F48C84-60F4-4CE6-B345-0E870DA9411A}"/>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descr="Close-up Of A Young Businesswoman Chatting With Her Colleague">
            <a:extLst>
              <a:ext uri="{FF2B5EF4-FFF2-40B4-BE49-F238E27FC236}">
                <a16:creationId xmlns:a16="http://schemas.microsoft.com/office/drawing/2014/main" id="{CC5EBE02-6BC8-4EF2-836E-A8485771D327}"/>
              </a:ext>
            </a:extLst>
          </p:cNvPr>
          <p:cNvPicPr>
            <a:picLocks noGrp="1" noChangeAspect="1"/>
          </p:cNvPicPr>
          <p:nvPr>
            <p:ph sz="half" idx="2"/>
          </p:nvPr>
        </p:nvPicPr>
        <p:blipFill>
          <a:blip r:embed="rId5"/>
          <a:stretch>
            <a:fillRect/>
          </a:stretch>
        </p:blipFill>
        <p:spPr>
          <a:xfrm>
            <a:off x="619125" y="619125"/>
            <a:ext cx="3413670" cy="5638800"/>
          </a:xfrm>
          <a:prstGeom prst="rect">
            <a:avLst/>
          </a:prstGeom>
        </p:spPr>
      </p:pic>
      <p:sp>
        <p:nvSpPr>
          <p:cNvPr id="7" name="TextBox 6">
            <a:extLst>
              <a:ext uri="{FF2B5EF4-FFF2-40B4-BE49-F238E27FC236}">
                <a16:creationId xmlns:a16="http://schemas.microsoft.com/office/drawing/2014/main" id="{BF32C506-3838-4ED6-9208-54AC6697FD4F}"/>
              </a:ext>
            </a:extLst>
          </p:cNvPr>
          <p:cNvSpPr txBox="1"/>
          <p:nvPr/>
        </p:nvSpPr>
        <p:spPr>
          <a:xfrm>
            <a:off x="4737645" y="1038225"/>
            <a:ext cx="6854130" cy="493662"/>
          </a:xfrm>
          <a:prstGeom prst="rect">
            <a:avLst/>
          </a:prstGeom>
          <a:noFill/>
        </p:spPr>
        <p:txBody>
          <a:bodyPr wrap="square" rtlCol="0">
            <a:normAutofit/>
          </a:bodyPr>
          <a:lstStyle/>
          <a:p>
            <a:pPr marL="0" marR="0" algn="l">
              <a:buNone/>
            </a:pPr>
            <a:r>
              <a:rPr sz="3600" b="1">
                <a:solidFill>
                  <a:srgbClr val="3B3232"/>
                </a:solidFill>
                <a:effectLst/>
                <a:latin typeface="Sabon Next"/>
              </a:rPr>
              <a:t>Telecom Order Flow</a:t>
            </a:r>
            <a:r>
              <a:rPr>
                <a:effectLst/>
              </a:rPr>
              <a:t> </a:t>
            </a:r>
            <a:endParaRPr lang="en-US"/>
          </a:p>
        </p:txBody>
      </p:sp>
      <p:sp>
        <p:nvSpPr>
          <p:cNvPr id="8" name="TextBox 7">
            <a:extLst>
              <a:ext uri="{FF2B5EF4-FFF2-40B4-BE49-F238E27FC236}">
                <a16:creationId xmlns:a16="http://schemas.microsoft.com/office/drawing/2014/main" id="{ACF2E215-E060-44B2-B6DC-394D9634E9A4}"/>
              </a:ext>
            </a:extLst>
          </p:cNvPr>
          <p:cNvSpPr txBox="1"/>
          <p:nvPr/>
        </p:nvSpPr>
        <p:spPr>
          <a:xfrm>
            <a:off x="4737645" y="1874787"/>
            <a:ext cx="3236565" cy="238125"/>
          </a:xfrm>
          <a:prstGeom prst="rect">
            <a:avLst/>
          </a:prstGeom>
          <a:noFill/>
        </p:spPr>
        <p:txBody>
          <a:bodyPr wrap="square" rtlCol="0">
            <a:normAutofit/>
          </a:bodyPr>
          <a:lstStyle/>
          <a:p>
            <a:pPr marL="0" marR="0" algn="l">
              <a:buNone/>
            </a:pPr>
            <a:r>
              <a:rPr sz="1500" b="1">
                <a:solidFill>
                  <a:srgbClr val="E46731"/>
                </a:solidFill>
                <a:effectLst/>
                <a:latin typeface="Bierstadt" panose="020B0004020202020204" pitchFamily="34" charset="0"/>
              </a:rPr>
              <a:t>Customer Interaction (CRM)</a:t>
            </a:r>
            <a:r>
              <a:rPr>
                <a:effectLst/>
              </a:rPr>
              <a:t> </a:t>
            </a:r>
            <a:endParaRPr lang="en-US"/>
          </a:p>
        </p:txBody>
      </p:sp>
      <p:sp>
        <p:nvSpPr>
          <p:cNvPr id="9" name="TextBox 8">
            <a:extLst>
              <a:ext uri="{FF2B5EF4-FFF2-40B4-BE49-F238E27FC236}">
                <a16:creationId xmlns:a16="http://schemas.microsoft.com/office/drawing/2014/main" id="{939C4F75-980E-407D-A683-633EFA61C37D}"/>
              </a:ext>
            </a:extLst>
          </p:cNvPr>
          <p:cNvSpPr txBox="1"/>
          <p:nvPr/>
        </p:nvSpPr>
        <p:spPr>
          <a:xfrm>
            <a:off x="4737645" y="2170062"/>
            <a:ext cx="3236565" cy="959643"/>
          </a:xfrm>
          <a:prstGeom prst="rect">
            <a:avLst/>
          </a:prstGeom>
          <a:noFill/>
        </p:spPr>
        <p:txBody>
          <a:bodyPr wrap="square" rtlCol="0">
            <a:normAutofit/>
          </a:bodyPr>
          <a:lstStyle/>
          <a:p>
            <a:pPr marL="0" marR="0" algn="l">
              <a:buNone/>
            </a:pPr>
            <a:r>
              <a:rPr sz="1350" b="0">
                <a:solidFill>
                  <a:srgbClr val="3B3232"/>
                </a:solidFill>
                <a:effectLst/>
                <a:latin typeface="Bierstadt" panose="020B0004020202020204" pitchFamily="34" charset="0"/>
              </a:rPr>
              <a:t>Customer places an order via care or self-service. CRM is the primary source of order data and the single customer touchpoint.</a:t>
            </a:r>
            <a:r>
              <a:rPr>
                <a:effectLst/>
              </a:rPr>
              <a:t> </a:t>
            </a:r>
            <a:endParaRPr lang="en-US"/>
          </a:p>
        </p:txBody>
      </p:sp>
      <p:sp>
        <p:nvSpPr>
          <p:cNvPr id="10" name="TextBox 9">
            <a:extLst>
              <a:ext uri="{FF2B5EF4-FFF2-40B4-BE49-F238E27FC236}">
                <a16:creationId xmlns:a16="http://schemas.microsoft.com/office/drawing/2014/main" id="{B521E85E-D48A-42F3-BE41-FF57E56BAEC5}"/>
              </a:ext>
            </a:extLst>
          </p:cNvPr>
          <p:cNvSpPr txBox="1"/>
          <p:nvPr/>
        </p:nvSpPr>
        <p:spPr>
          <a:xfrm>
            <a:off x="8355210" y="1874787"/>
            <a:ext cx="3236565" cy="238125"/>
          </a:xfrm>
          <a:prstGeom prst="rect">
            <a:avLst/>
          </a:prstGeom>
          <a:noFill/>
        </p:spPr>
        <p:txBody>
          <a:bodyPr wrap="square" rtlCol="0">
            <a:normAutofit/>
          </a:bodyPr>
          <a:lstStyle/>
          <a:p>
            <a:pPr marL="0" marR="0" algn="l">
              <a:buNone/>
            </a:pPr>
            <a:r>
              <a:rPr sz="1500" b="1">
                <a:solidFill>
                  <a:srgbClr val="F5C30A"/>
                </a:solidFill>
                <a:effectLst/>
                <a:latin typeface="Bierstadt" panose="020B0004020202020204" pitchFamily="34" charset="0"/>
              </a:rPr>
              <a:t>Order Validation</a:t>
            </a:r>
            <a:r>
              <a:rPr>
                <a:effectLst/>
              </a:rPr>
              <a:t> </a:t>
            </a:r>
            <a:endParaRPr lang="en-US"/>
          </a:p>
        </p:txBody>
      </p:sp>
      <p:sp>
        <p:nvSpPr>
          <p:cNvPr id="11" name="TextBox 10">
            <a:extLst>
              <a:ext uri="{FF2B5EF4-FFF2-40B4-BE49-F238E27FC236}">
                <a16:creationId xmlns:a16="http://schemas.microsoft.com/office/drawing/2014/main" id="{8EC4C9B0-70F8-45E4-AA7A-0C1B05D68BD9}"/>
              </a:ext>
            </a:extLst>
          </p:cNvPr>
          <p:cNvSpPr txBox="1"/>
          <p:nvPr/>
        </p:nvSpPr>
        <p:spPr>
          <a:xfrm>
            <a:off x="8355210" y="2170062"/>
            <a:ext cx="3236565" cy="719732"/>
          </a:xfrm>
          <a:prstGeom prst="rect">
            <a:avLst/>
          </a:prstGeom>
          <a:noFill/>
        </p:spPr>
        <p:txBody>
          <a:bodyPr wrap="square" rtlCol="0">
            <a:normAutofit/>
          </a:bodyPr>
          <a:lstStyle/>
          <a:p>
            <a:pPr marL="0" marR="0" algn="l">
              <a:buNone/>
            </a:pPr>
            <a:r>
              <a:rPr sz="1350" b="0">
                <a:solidFill>
                  <a:srgbClr val="3B3232"/>
                </a:solidFill>
                <a:effectLst/>
                <a:latin typeface="Bierstadt" panose="020B0004020202020204" pitchFamily="34" charset="0"/>
              </a:rPr>
              <a:t>CRM checks eligibility, service availability, and data completeness so only valid orders proceed downstream.</a:t>
            </a:r>
            <a:r>
              <a:rPr>
                <a:effectLst/>
              </a:rPr>
              <a:t> </a:t>
            </a:r>
            <a:endParaRPr lang="en-US"/>
          </a:p>
        </p:txBody>
      </p:sp>
      <p:sp>
        <p:nvSpPr>
          <p:cNvPr id="12" name="TextBox 11">
            <a:extLst>
              <a:ext uri="{FF2B5EF4-FFF2-40B4-BE49-F238E27FC236}">
                <a16:creationId xmlns:a16="http://schemas.microsoft.com/office/drawing/2014/main" id="{4CE5DC4C-517F-411B-B723-D157F649D0B2}"/>
              </a:ext>
            </a:extLst>
          </p:cNvPr>
          <p:cNvSpPr txBox="1"/>
          <p:nvPr/>
        </p:nvSpPr>
        <p:spPr>
          <a:xfrm>
            <a:off x="4737645" y="3358306"/>
            <a:ext cx="3236565" cy="238125"/>
          </a:xfrm>
          <a:prstGeom prst="rect">
            <a:avLst/>
          </a:prstGeom>
          <a:noFill/>
        </p:spPr>
        <p:txBody>
          <a:bodyPr wrap="square" rtlCol="0">
            <a:normAutofit/>
          </a:bodyPr>
          <a:lstStyle/>
          <a:p>
            <a:pPr marL="0" marR="0" algn="l">
              <a:buNone/>
            </a:pPr>
            <a:r>
              <a:rPr sz="1500" b="1">
                <a:solidFill>
                  <a:srgbClr val="329A9A"/>
                </a:solidFill>
                <a:effectLst/>
                <a:latin typeface="Bierstadt" panose="020B0004020202020204" pitchFamily="34" charset="0"/>
              </a:rPr>
              <a:t>Order Management (OMS)</a:t>
            </a:r>
            <a:r>
              <a:rPr>
                <a:effectLst/>
              </a:rPr>
              <a:t> </a:t>
            </a:r>
            <a:endParaRPr lang="en-US"/>
          </a:p>
        </p:txBody>
      </p:sp>
      <p:sp>
        <p:nvSpPr>
          <p:cNvPr id="13" name="TextBox 12">
            <a:extLst>
              <a:ext uri="{FF2B5EF4-FFF2-40B4-BE49-F238E27FC236}">
                <a16:creationId xmlns:a16="http://schemas.microsoft.com/office/drawing/2014/main" id="{4289194D-981B-4A63-9E48-9ED1305BCE6B}"/>
              </a:ext>
            </a:extLst>
          </p:cNvPr>
          <p:cNvSpPr txBox="1"/>
          <p:nvPr/>
        </p:nvSpPr>
        <p:spPr>
          <a:xfrm>
            <a:off x="4737645" y="3653581"/>
            <a:ext cx="3236565" cy="959643"/>
          </a:xfrm>
          <a:prstGeom prst="rect">
            <a:avLst/>
          </a:prstGeom>
          <a:noFill/>
        </p:spPr>
        <p:txBody>
          <a:bodyPr wrap="square" rtlCol="0">
            <a:normAutofit/>
          </a:bodyPr>
          <a:lstStyle/>
          <a:p>
            <a:pPr marL="0" marR="0" algn="l">
              <a:buNone/>
            </a:pPr>
            <a:r>
              <a:rPr sz="1350" b="0">
                <a:solidFill>
                  <a:srgbClr val="3B3232"/>
                </a:solidFill>
                <a:effectLst/>
                <a:latin typeface="Bierstadt" panose="020B0004020202020204" pitchFamily="34" charset="0"/>
              </a:rPr>
              <a:t>OMS orchestrates fulfillment: decomposes the order into tasks, manages dependencies, and confirms inventory (numbers, ports, services).</a:t>
            </a:r>
            <a:r>
              <a:rPr>
                <a:effectLst/>
              </a:rPr>
              <a:t> </a:t>
            </a:r>
            <a:endParaRPr lang="en-US"/>
          </a:p>
        </p:txBody>
      </p:sp>
      <p:sp>
        <p:nvSpPr>
          <p:cNvPr id="14" name="TextBox 13">
            <a:extLst>
              <a:ext uri="{FF2B5EF4-FFF2-40B4-BE49-F238E27FC236}">
                <a16:creationId xmlns:a16="http://schemas.microsoft.com/office/drawing/2014/main" id="{6EDE8B0D-A87A-4278-B5BF-3A9EC9F1F486}"/>
              </a:ext>
            </a:extLst>
          </p:cNvPr>
          <p:cNvSpPr txBox="1"/>
          <p:nvPr/>
        </p:nvSpPr>
        <p:spPr>
          <a:xfrm>
            <a:off x="8355210" y="3358306"/>
            <a:ext cx="3236565" cy="238125"/>
          </a:xfrm>
          <a:prstGeom prst="rect">
            <a:avLst/>
          </a:prstGeom>
          <a:noFill/>
        </p:spPr>
        <p:txBody>
          <a:bodyPr wrap="square" rtlCol="0">
            <a:normAutofit/>
          </a:bodyPr>
          <a:lstStyle/>
          <a:p>
            <a:pPr marL="0" marR="0" algn="l">
              <a:buNone/>
            </a:pPr>
            <a:r>
              <a:rPr sz="1500" b="1">
                <a:solidFill>
                  <a:srgbClr val="3B3232"/>
                </a:solidFill>
                <a:effectLst/>
                <a:latin typeface="Bierstadt" panose="020B0004020202020204" pitchFamily="34" charset="0"/>
              </a:rPr>
              <a:t>Activation, Status &amp; Errors</a:t>
            </a:r>
            <a:r>
              <a:rPr>
                <a:effectLst/>
              </a:rPr>
              <a:t> </a:t>
            </a:r>
            <a:endParaRPr lang="en-US"/>
          </a:p>
        </p:txBody>
      </p:sp>
      <p:sp>
        <p:nvSpPr>
          <p:cNvPr id="15" name="TextBox 14">
            <a:extLst>
              <a:ext uri="{FF2B5EF4-FFF2-40B4-BE49-F238E27FC236}">
                <a16:creationId xmlns:a16="http://schemas.microsoft.com/office/drawing/2014/main" id="{BC62FBD9-3948-4601-B4CC-B36DEDE5F3C3}"/>
              </a:ext>
            </a:extLst>
          </p:cNvPr>
          <p:cNvSpPr txBox="1"/>
          <p:nvPr/>
        </p:nvSpPr>
        <p:spPr>
          <a:xfrm>
            <a:off x="8355210" y="3653581"/>
            <a:ext cx="3236565" cy="959643"/>
          </a:xfrm>
          <a:prstGeom prst="rect">
            <a:avLst/>
          </a:prstGeom>
          <a:noFill/>
        </p:spPr>
        <p:txBody>
          <a:bodyPr wrap="square" rtlCol="0">
            <a:normAutofit/>
          </a:bodyPr>
          <a:lstStyle/>
          <a:p>
            <a:pPr marL="0" marR="0" algn="l">
              <a:buNone/>
            </a:pPr>
            <a:r>
              <a:rPr sz="1350" b="0">
                <a:solidFill>
                  <a:srgbClr val="3B3232"/>
                </a:solidFill>
                <a:effectLst/>
                <a:latin typeface="Bierstadt" panose="020B0004020202020204" pitchFamily="34" charset="0"/>
              </a:rPr>
              <a:t>Provisioning systems enable the service and return responses to OMS. OMS updates CRM near real time; failures are logged and retried where applicable.</a:t>
            </a:r>
            <a:r>
              <a:rPr>
                <a:effectLst/>
              </a:rPr>
              <a:t> </a:t>
            </a:r>
            <a:endParaRPr lang="en-US"/>
          </a:p>
        </p:txBody>
      </p:sp>
    </p:spTree>
    <p:extLst>
      <p:ext uri="{BB962C8B-B14F-4D97-AF65-F5344CB8AC3E}">
        <p14:creationId xmlns:p14="http://schemas.microsoft.com/office/powerpoint/2010/main" val="1206635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9DAA546-7A0B-4BF2-99A2-C63882703120}"/>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683268D2-ABF9-44BB-87F5-D14086D87172}"/>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781050" y="2032545"/>
            <a:ext cx="857250" cy="857250"/>
          </a:xfrm>
          <a:prstGeom prst="rect">
            <a:avLst/>
          </a:prstGeom>
        </p:spPr>
      </p:pic>
      <p:pic>
        <p:nvPicPr>
          <p:cNvPr id="7" name="Picture 6" descr="Checklist marked red with a red pen">
            <a:extLst>
              <a:ext uri="{FF2B5EF4-FFF2-40B4-BE49-F238E27FC236}">
                <a16:creationId xmlns:a16="http://schemas.microsoft.com/office/drawing/2014/main" id="{40F17F6C-16FA-4F89-9F5E-B09DA1C9E5B2}"/>
              </a:ext>
            </a:extLst>
          </p:cNvPr>
          <p:cNvPicPr>
            <a:picLocks noChangeAspect="1"/>
          </p:cNvPicPr>
          <p:nvPr/>
        </p:nvPicPr>
        <p:blipFill>
          <a:blip r:embed="rId7"/>
          <a:stretch>
            <a:fillRect/>
          </a:stretch>
        </p:blipFill>
        <p:spPr>
          <a:xfrm>
            <a:off x="885825" y="2137320"/>
            <a:ext cx="647700" cy="647700"/>
          </a:xfrm>
          <a:prstGeom prst="ellipse">
            <a:avLst/>
          </a:prstGeom>
        </p:spPr>
      </p:pic>
      <p:pic>
        <p:nvPicPr>
          <p:cNvPr id="8" name="Graphic 7">
            <a:extLst>
              <a:ext uri="{FF2B5EF4-FFF2-40B4-BE49-F238E27FC236}">
                <a16:creationId xmlns:a16="http://schemas.microsoft.com/office/drawing/2014/main" id="{7B042423-DD13-4228-B3EF-D6AB985B368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72225" y="2032545"/>
            <a:ext cx="857250" cy="857250"/>
          </a:xfrm>
          <a:prstGeom prst="rect">
            <a:avLst/>
          </a:prstGeom>
        </p:spPr>
      </p:pic>
      <p:pic>
        <p:nvPicPr>
          <p:cNvPr id="9" name="Picture 8" descr="pinion and ring gear for chain motorcycle isolated on white">
            <a:extLst>
              <a:ext uri="{FF2B5EF4-FFF2-40B4-BE49-F238E27FC236}">
                <a16:creationId xmlns:a16="http://schemas.microsoft.com/office/drawing/2014/main" id="{3BEB25B5-87F5-4529-BBE9-421FCD8D28B2}"/>
              </a:ext>
            </a:extLst>
          </p:cNvPr>
          <p:cNvPicPr>
            <a:picLocks noChangeAspect="1"/>
          </p:cNvPicPr>
          <p:nvPr/>
        </p:nvPicPr>
        <p:blipFill>
          <a:blip r:embed="rId10"/>
          <a:stretch>
            <a:fillRect/>
          </a:stretch>
        </p:blipFill>
        <p:spPr>
          <a:xfrm>
            <a:off x="6477000" y="2137320"/>
            <a:ext cx="647700" cy="647700"/>
          </a:xfrm>
          <a:prstGeom prst="ellipse">
            <a:avLst/>
          </a:prstGeom>
        </p:spPr>
      </p:pic>
      <p:pic>
        <p:nvPicPr>
          <p:cNvPr id="10" name="Graphic 9">
            <a:extLst>
              <a:ext uri="{FF2B5EF4-FFF2-40B4-BE49-F238E27FC236}">
                <a16:creationId xmlns:a16="http://schemas.microsoft.com/office/drawing/2014/main" id="{83ED202E-1954-40D1-A2AF-A6027FBDA63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1050" y="4602360"/>
            <a:ext cx="857250" cy="857250"/>
          </a:xfrm>
          <a:prstGeom prst="rect">
            <a:avLst/>
          </a:prstGeom>
        </p:spPr>
      </p:pic>
      <p:pic>
        <p:nvPicPr>
          <p:cNvPr id="11" name="Picture 10" descr="Panoramic view on the mining town of Schwarzenberg (Erzgebirge / Ore Mountains) illuminated by christmas lights on a winter day.">
            <a:extLst>
              <a:ext uri="{FF2B5EF4-FFF2-40B4-BE49-F238E27FC236}">
                <a16:creationId xmlns:a16="http://schemas.microsoft.com/office/drawing/2014/main" id="{D60253F3-8202-449F-90EE-77C46D43E4DE}"/>
              </a:ext>
            </a:extLst>
          </p:cNvPr>
          <p:cNvPicPr>
            <a:picLocks noChangeAspect="1"/>
          </p:cNvPicPr>
          <p:nvPr/>
        </p:nvPicPr>
        <p:blipFill>
          <a:blip r:embed="rId13"/>
          <a:stretch>
            <a:fillRect/>
          </a:stretch>
        </p:blipFill>
        <p:spPr>
          <a:xfrm>
            <a:off x="885825" y="4707135"/>
            <a:ext cx="647700" cy="647700"/>
          </a:xfrm>
          <a:prstGeom prst="ellipse">
            <a:avLst/>
          </a:prstGeom>
        </p:spPr>
      </p:pic>
      <p:pic>
        <p:nvPicPr>
          <p:cNvPr id="12" name="Graphic 11">
            <a:extLst>
              <a:ext uri="{FF2B5EF4-FFF2-40B4-BE49-F238E27FC236}">
                <a16:creationId xmlns:a16="http://schemas.microsoft.com/office/drawing/2014/main" id="{F14E21EA-1747-4A9E-A65B-18DCBA1C9C2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602360"/>
            <a:ext cx="857250" cy="857250"/>
          </a:xfrm>
          <a:prstGeom prst="rect">
            <a:avLst/>
          </a:prstGeom>
        </p:spPr>
      </p:pic>
      <p:pic>
        <p:nvPicPr>
          <p:cNvPr id="13" name="Picture 12" descr="Panoramic view on the mining town of Schwarzenberg (Erzgebirge / Ore Mountains) illuminated by christmas lights on a winter day.">
            <a:extLst>
              <a:ext uri="{FF2B5EF4-FFF2-40B4-BE49-F238E27FC236}">
                <a16:creationId xmlns:a16="http://schemas.microsoft.com/office/drawing/2014/main" id="{E5CCB325-7B1B-43BA-BAA2-407ACE9940E7}"/>
              </a:ext>
            </a:extLst>
          </p:cNvPr>
          <p:cNvPicPr>
            <a:picLocks noChangeAspect="1"/>
          </p:cNvPicPr>
          <p:nvPr/>
        </p:nvPicPr>
        <p:blipFill>
          <a:blip r:embed="rId13"/>
          <a:stretch>
            <a:fillRect/>
          </a:stretch>
        </p:blipFill>
        <p:spPr>
          <a:xfrm>
            <a:off x="6477000" y="4707135"/>
            <a:ext cx="647700" cy="647700"/>
          </a:xfrm>
          <a:prstGeom prst="ellipse">
            <a:avLst/>
          </a:prstGeom>
        </p:spPr>
      </p:pic>
      <p:sp>
        <p:nvSpPr>
          <p:cNvPr id="14" name="TextBox 13">
            <a:extLst>
              <a:ext uri="{FF2B5EF4-FFF2-40B4-BE49-F238E27FC236}">
                <a16:creationId xmlns:a16="http://schemas.microsoft.com/office/drawing/2014/main" id="{6597AB1D-BD34-4128-9124-AEDF56D16645}"/>
              </a:ext>
            </a:extLst>
          </p:cNvPr>
          <p:cNvSpPr txBox="1"/>
          <p:nvPr/>
        </p:nvSpPr>
        <p:spPr>
          <a:xfrm>
            <a:off x="619125" y="847725"/>
            <a:ext cx="10972800" cy="520005"/>
          </a:xfrm>
          <a:prstGeom prst="rect">
            <a:avLst/>
          </a:prstGeom>
          <a:noFill/>
        </p:spPr>
        <p:txBody>
          <a:bodyPr wrap="square" rtlCol="0">
            <a:normAutofit/>
          </a:bodyPr>
          <a:lstStyle/>
          <a:p>
            <a:pPr marL="0" algn="l">
              <a:buNone/>
            </a:pPr>
            <a:r>
              <a:rPr sz="3900" b="1">
                <a:solidFill>
                  <a:srgbClr val="3B3232"/>
                </a:solidFill>
                <a:effectLst/>
                <a:latin typeface="Georgia" panose="02040502050405020303" pitchFamily="18" charset="0"/>
              </a:rPr>
              <a:t>Assumptions &amp; Success Criteria</a:t>
            </a:r>
            <a:r>
              <a:rPr>
                <a:effectLst/>
              </a:rPr>
              <a:t> </a:t>
            </a:r>
            <a:endParaRPr lang="en-US"/>
          </a:p>
        </p:txBody>
      </p:sp>
      <p:sp>
        <p:nvSpPr>
          <p:cNvPr id="15" name="TextBox 14">
            <a:extLst>
              <a:ext uri="{FF2B5EF4-FFF2-40B4-BE49-F238E27FC236}">
                <a16:creationId xmlns:a16="http://schemas.microsoft.com/office/drawing/2014/main" id="{99AB3E46-8C78-44EE-A092-01C10DE7C1D8}"/>
              </a:ext>
            </a:extLst>
          </p:cNvPr>
          <p:cNvSpPr txBox="1"/>
          <p:nvPr/>
        </p:nvSpPr>
        <p:spPr>
          <a:xfrm>
            <a:off x="1866900" y="2108745"/>
            <a:ext cx="3810000" cy="1655415"/>
          </a:xfrm>
          <a:prstGeom prst="rect">
            <a:avLst/>
          </a:prstGeom>
          <a:noFill/>
        </p:spPr>
        <p:txBody>
          <a:bodyPr wrap="square" rtlCol="0">
            <a:normAutofit/>
          </a:bodyPr>
          <a:lstStyle/>
          <a:p>
            <a:pPr marL="0" algn="l">
              <a:buNone/>
            </a:pPr>
            <a:r>
              <a:rPr sz="1800" b="1">
                <a:solidFill>
                  <a:srgbClr val="3B3232"/>
                </a:solidFill>
                <a:effectLst/>
                <a:latin typeface="Bierstadt" panose="020B0004020202020204" pitchFamily="34" charset="0"/>
              </a:rPr>
              <a:t>Assumptions</a:t>
            </a:r>
            <a:r>
              <a:rPr>
                <a:effectLst/>
              </a:rPr>
              <a:t> </a:t>
            </a:r>
          </a:p>
          <a:p>
            <a:pPr marL="0" algn="l">
              <a:spcBef>
                <a:spcPts val="750"/>
              </a:spcBef>
              <a:buNone/>
            </a:pPr>
            <a:r>
              <a:rPr sz="1500" b="0">
                <a:solidFill>
                  <a:srgbClr val="3B3232"/>
                </a:solidFill>
                <a:effectLst/>
                <a:latin typeface="Bierstadt" panose="020B0004020202020204" pitchFamily="34" charset="0"/>
              </a:rPr>
              <a:t>CRM is the single source of truth for customer and order data. Downstream systems expose reliable APIs. Network/service resources are available at provisioning time.</a:t>
            </a:r>
            <a:r>
              <a:rPr>
                <a:effectLst/>
              </a:rPr>
              <a:t> </a:t>
            </a:r>
            <a:endParaRPr lang="en-US"/>
          </a:p>
        </p:txBody>
      </p:sp>
      <p:sp>
        <p:nvSpPr>
          <p:cNvPr id="16" name="TextBox 15">
            <a:extLst>
              <a:ext uri="{FF2B5EF4-FFF2-40B4-BE49-F238E27FC236}">
                <a16:creationId xmlns:a16="http://schemas.microsoft.com/office/drawing/2014/main" id="{C9932880-147E-472D-A3FB-3B370B3E4A6D}"/>
              </a:ext>
            </a:extLst>
          </p:cNvPr>
          <p:cNvSpPr txBox="1"/>
          <p:nvPr/>
        </p:nvSpPr>
        <p:spPr>
          <a:xfrm>
            <a:off x="7458075" y="2108745"/>
            <a:ext cx="3810000" cy="1398240"/>
          </a:xfrm>
          <a:prstGeom prst="rect">
            <a:avLst/>
          </a:prstGeom>
          <a:noFill/>
        </p:spPr>
        <p:txBody>
          <a:bodyPr wrap="square" rtlCol="0">
            <a:normAutofit/>
          </a:bodyPr>
          <a:lstStyle/>
          <a:p>
            <a:pPr marL="0" algn="l">
              <a:buNone/>
            </a:pPr>
            <a:r>
              <a:rPr sz="1800" b="1">
                <a:solidFill>
                  <a:srgbClr val="3B3232"/>
                </a:solidFill>
                <a:effectLst/>
                <a:latin typeface="Bierstadt" panose="020B0004020202020204" pitchFamily="34" charset="0"/>
              </a:rPr>
              <a:t>Dependencies</a:t>
            </a:r>
            <a:r>
              <a:rPr>
                <a:effectLst/>
              </a:rPr>
              <a:t> </a:t>
            </a:r>
          </a:p>
          <a:p>
            <a:pPr marL="0" algn="l">
              <a:spcBef>
                <a:spcPts val="750"/>
              </a:spcBef>
              <a:buNone/>
            </a:pPr>
            <a:r>
              <a:rPr sz="1500" b="0">
                <a:solidFill>
                  <a:srgbClr val="3B3232"/>
                </a:solidFill>
                <a:effectLst/>
                <a:latin typeface="Bierstadt" panose="020B0004020202020204" pitchFamily="34" charset="0"/>
              </a:rPr>
              <a:t>Stable connectivity and data sync between CRM and OMS. High availability of inventory system. Fast response times from provisioning systems.</a:t>
            </a:r>
            <a:r>
              <a:rPr>
                <a:effectLst/>
              </a:rPr>
              <a:t> </a:t>
            </a:r>
            <a:endParaRPr lang="en-US"/>
          </a:p>
        </p:txBody>
      </p:sp>
      <p:sp>
        <p:nvSpPr>
          <p:cNvPr id="17" name="TextBox 16">
            <a:extLst>
              <a:ext uri="{FF2B5EF4-FFF2-40B4-BE49-F238E27FC236}">
                <a16:creationId xmlns:a16="http://schemas.microsoft.com/office/drawing/2014/main" id="{D54DF229-4354-4872-92DD-DA388C10CE08}"/>
              </a:ext>
            </a:extLst>
          </p:cNvPr>
          <p:cNvSpPr txBox="1"/>
          <p:nvPr/>
        </p:nvSpPr>
        <p:spPr>
          <a:xfrm>
            <a:off x="1866900" y="4640460"/>
            <a:ext cx="3810000" cy="1141065"/>
          </a:xfrm>
          <a:prstGeom prst="rect">
            <a:avLst/>
          </a:prstGeom>
          <a:noFill/>
        </p:spPr>
        <p:txBody>
          <a:bodyPr wrap="square" rtlCol="0">
            <a:normAutofit/>
          </a:bodyPr>
          <a:lstStyle/>
          <a:p>
            <a:pPr marL="0" algn="l">
              <a:buNone/>
            </a:pPr>
            <a:r>
              <a:rPr sz="1800" b="1">
                <a:solidFill>
                  <a:srgbClr val="3B3232"/>
                </a:solidFill>
                <a:effectLst/>
                <a:latin typeface="Bierstadt" panose="020B0004020202020204" pitchFamily="34" charset="0"/>
              </a:rPr>
              <a:t>Risks</a:t>
            </a:r>
            <a:r>
              <a:rPr>
                <a:effectLst/>
              </a:rPr>
              <a:t> </a:t>
            </a:r>
          </a:p>
          <a:p>
            <a:pPr marL="0" algn="l">
              <a:spcBef>
                <a:spcPts val="750"/>
              </a:spcBef>
              <a:buNone/>
            </a:pPr>
            <a:r>
              <a:rPr sz="1500" b="0">
                <a:solidFill>
                  <a:srgbClr val="3B3232"/>
                </a:solidFill>
                <a:effectLst/>
                <a:latin typeface="Bierstadt" panose="020B0004020202020204" pitchFamily="34" charset="0"/>
              </a:rPr>
              <a:t>Order fallout from inventory mismatches, outages in downstream systems, data inconsistencies from partial failures.</a:t>
            </a:r>
            <a:r>
              <a:rPr>
                <a:effectLst/>
              </a:rPr>
              <a:t> </a:t>
            </a:r>
            <a:endParaRPr lang="en-US"/>
          </a:p>
        </p:txBody>
      </p:sp>
      <p:sp>
        <p:nvSpPr>
          <p:cNvPr id="18" name="TextBox 17">
            <a:extLst>
              <a:ext uri="{FF2B5EF4-FFF2-40B4-BE49-F238E27FC236}">
                <a16:creationId xmlns:a16="http://schemas.microsoft.com/office/drawing/2014/main" id="{92772432-E9DD-44D1-942F-65637DC36B8C}"/>
              </a:ext>
            </a:extLst>
          </p:cNvPr>
          <p:cNvSpPr txBox="1"/>
          <p:nvPr/>
        </p:nvSpPr>
        <p:spPr>
          <a:xfrm>
            <a:off x="7458075" y="4640460"/>
            <a:ext cx="3810000" cy="1141065"/>
          </a:xfrm>
          <a:prstGeom prst="rect">
            <a:avLst/>
          </a:prstGeom>
          <a:noFill/>
        </p:spPr>
        <p:txBody>
          <a:bodyPr wrap="square" rtlCol="0">
            <a:normAutofit/>
          </a:bodyPr>
          <a:lstStyle/>
          <a:p>
            <a:pPr marL="0" algn="l">
              <a:buNone/>
            </a:pPr>
            <a:r>
              <a:rPr sz="1800" b="1">
                <a:solidFill>
                  <a:srgbClr val="3B3232"/>
                </a:solidFill>
                <a:effectLst/>
                <a:latin typeface="Bierstadt" panose="020B0004020202020204" pitchFamily="34" charset="0"/>
              </a:rPr>
              <a:t>Success Criteria</a:t>
            </a:r>
            <a:r>
              <a:rPr>
                <a:effectLst/>
              </a:rPr>
              <a:t> </a:t>
            </a:r>
          </a:p>
          <a:p>
            <a:pPr marL="0" algn="l">
              <a:spcBef>
                <a:spcPts val="750"/>
              </a:spcBef>
              <a:buNone/>
            </a:pPr>
            <a:r>
              <a:rPr sz="1500" b="0">
                <a:solidFill>
                  <a:srgbClr val="3B3232"/>
                </a:solidFill>
                <a:effectLst/>
                <a:latin typeface="Bierstadt" panose="020B0004020202020204" pitchFamily="34" charset="0"/>
              </a:rPr>
              <a:t>End-to-end order completion without manual intervention, service activation within SLAs, accurate order status in CRM.</a:t>
            </a:r>
            <a:r>
              <a:rPr>
                <a:effectLst/>
              </a:rPr>
              <a:t> </a:t>
            </a:r>
            <a:endParaRPr lang="en-US"/>
          </a:p>
        </p:txBody>
      </p:sp>
    </p:spTree>
    <p:extLst>
      <p:ext uri="{BB962C8B-B14F-4D97-AF65-F5344CB8AC3E}">
        <p14:creationId xmlns:p14="http://schemas.microsoft.com/office/powerpoint/2010/main" val="13566405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1515</Words>
  <Application>Microsoft Office PowerPoint</Application>
  <PresentationFormat>Widescreen</PresentationFormat>
  <Paragraphs>38</Paragraphs>
  <Slides>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Arial</vt:lpstr>
      <vt:lpstr>Bierstadt</vt:lpstr>
      <vt:lpstr>Calibri</vt:lpstr>
      <vt:lpstr>Calibri Light</vt:lpstr>
      <vt:lpstr>Georgia</vt:lpstr>
      <vt:lpstr>Sabon Next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TA40096281@wipro.com</dc:creator>
  <cp:lastModifiedBy>Tanya Verma</cp:lastModifiedBy>
  <cp:revision>1</cp:revision>
  <dcterms:modified xsi:type="dcterms:W3CDTF">2026-04-03T19:33:22Z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7ded32-6a8c-48b8-8009-ebf9a4e0e083_Enabled">
    <vt:lpwstr>true</vt:lpwstr>
  </property>
  <property fmtid="{D5CDD505-2E9C-101B-9397-08002B2CF9AE}" pid="3" name="MSIP_Label_ce7ded32-6a8c-48b8-8009-ebf9a4e0e083_SetDate">
    <vt:lpwstr>2026-04-03T18:07:56Z</vt:lpwstr>
  </property>
  <property fmtid="{D5CDD505-2E9C-101B-9397-08002B2CF9AE}" pid="4" name="MSIP_Label_ce7ded32-6a8c-48b8-8009-ebf9a4e0e083_Method">
    <vt:lpwstr>Privileged</vt:lpwstr>
  </property>
  <property fmtid="{D5CDD505-2E9C-101B-9397-08002B2CF9AE}" pid="5" name="MSIP_Label_ce7ded32-6a8c-48b8-8009-ebf9a4e0e083_Name">
    <vt:lpwstr>Public - Public</vt:lpwstr>
  </property>
  <property fmtid="{D5CDD505-2E9C-101B-9397-08002B2CF9AE}" pid="6" name="MSIP_Label_ce7ded32-6a8c-48b8-8009-ebf9a4e0e083_SiteId">
    <vt:lpwstr>258ac4e4-146a-411e-9dc8-79a9e12fd6da</vt:lpwstr>
  </property>
  <property fmtid="{D5CDD505-2E9C-101B-9397-08002B2CF9AE}" pid="7" name="MSIP_Label_ce7ded32-6a8c-48b8-8009-ebf9a4e0e083_ActionId">
    <vt:lpwstr>ea94ca32-2475-4afa-88ce-9b209e2e2571</vt:lpwstr>
  </property>
  <property fmtid="{D5CDD505-2E9C-101B-9397-08002B2CF9AE}" pid="8" name="MSIP_Label_ce7ded32-6a8c-48b8-8009-ebf9a4e0e083_ContentBits">
    <vt:lpwstr>2</vt:lpwstr>
  </property>
  <property fmtid="{D5CDD505-2E9C-101B-9397-08002B2CF9AE}" pid="9" name="MSIP_Label_ce7ded32-6a8c-48b8-8009-ebf9a4e0e083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Public</vt:lpwstr>
  </property>
</Properties>
</file>